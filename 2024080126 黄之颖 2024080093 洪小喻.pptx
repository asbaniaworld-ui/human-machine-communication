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3" r:id="rId9"/>
    <p:sldId id="267" r:id="rId10"/>
    <p:sldId id="262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000000"/>
          </p15:clr>
        </p15:guide>
        <p15:guide id="2" pos="287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2B6"/>
    <a:srgbClr val="60A5FA"/>
    <a:srgbClr val="4B5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19"/>
        <p:guide pos="287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7.png"/><Relationship Id="rId7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tags" Target="../tags/tag2.xml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581650"/>
            <a:ext cx="100965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66057" y="1895475"/>
            <a:ext cx="765988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HUMAN-COMPUTER COMMUNICATION / PRODUCT DESIGN</a:t>
            </a:r>
            <a:endParaRPr lang="en-US" sz="120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371725" y="2400300"/>
            <a:ext cx="7448550" cy="17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让 AI 连接人的创意</a:t>
            </a:r>
            <a:endParaRPr lang="en-US" sz="5700">
              <a:solidFill>
                <a:srgbClr val="475569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而非替代</a:t>
            </a:r>
            <a:r>
              <a:rPr lang="en-US" sz="5700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人的表达</a:t>
            </a:r>
            <a:endParaRPr lang="en-US" sz="57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230016" y="4391025"/>
            <a:ext cx="573181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cap="none">
                <a:solidFill>
                  <a:srgbClr val="475569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 panose="020B0604020202020204"/>
              </a:rPr>
              <a:t>“</a:t>
            </a:r>
            <a:r>
              <a:rPr lang="zh-CN" altLang="en-US" sz="2000" b="1" i="0" u="none" strike="noStrike" cap="none">
                <a:solidFill>
                  <a:srgbClr val="475569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 panose="020B0604020202020204"/>
              </a:rPr>
              <a:t>兔了个</a:t>
            </a:r>
            <a:r>
              <a:rPr lang="en-US" altLang="zh-CN" sz="2000" b="1" i="0" u="none" strike="noStrike" cap="none">
                <a:solidFill>
                  <a:srgbClr val="475569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 panose="020B0604020202020204"/>
              </a:rPr>
              <a:t>”</a:t>
            </a:r>
            <a:r>
              <a:rPr lang="zh-CN" altLang="en-US" sz="2000" b="1" i="0" u="none" strike="noStrike" cap="none">
                <a:solidFill>
                  <a:srgbClr val="475569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 panose="020B0604020202020204"/>
              </a:rPr>
              <a:t>朋友圈文案助手</a:t>
            </a:r>
            <a:endParaRPr lang="zh-CN" altLang="en-US" sz="2000" b="1" i="0" u="none" strike="noStrike" cap="none">
              <a:solidFill>
                <a:srgbClr val="475569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Arial" panose="020B06040202020202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47750" y="5829300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人机传播课程作品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0441483" y="5838825"/>
            <a:ext cx="70276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01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图片 1" descr="未命名的设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00000">
            <a:off x="3321685" y="3947160"/>
            <a:ext cx="1310005" cy="1310005"/>
          </a:xfrm>
          <a:prstGeom prst="rect">
            <a:avLst/>
          </a:prstGeom>
        </p:spPr>
      </p:pic>
      <p:sp>
        <p:nvSpPr>
          <p:cNvPr id="1" name="Google Shape;89;p13"/>
          <p:cNvSpPr txBox="1"/>
          <p:nvPr/>
        </p:nvSpPr>
        <p:spPr>
          <a:xfrm>
            <a:off x="1047750" y="6057265"/>
            <a:ext cx="290766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2024080126 </a:t>
            </a:r>
            <a:r>
              <a:rPr lang="zh-CN" alt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黄之颖</a:t>
            </a:r>
            <a:r>
              <a:rPr lang="en-US" altLang="zh-CN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altLang="zh-CN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2024080093 </a:t>
            </a:r>
            <a:r>
              <a:rPr lang="zh-CN" alt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洪小喻</a:t>
            </a:r>
            <a:endParaRPr lang="zh-CN" alt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为什么我们还需要一个文案工具？</a:t>
            </a:r>
            <a:endParaRPr 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5848350"/>
            <a:ext cx="220712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PRODUCT INITIAL HEART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441483" y="5848350"/>
            <a:ext cx="70276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02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2097285"/>
            <a:ext cx="4714875" cy="166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AI 能够快速生成语言，</a:t>
            </a:r>
            <a:br>
              <a:rPr lang="en-US" sz="1800" b="0" i="0" u="none" strike="noStrike" cap="none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Calibri" panose="020F0502020204030204"/>
              </a:rPr>
            </a:br>
            <a:r>
              <a:rPr lang="en-US" sz="2400" b="0" i="0" u="none" strike="noStrike" cap="none">
                <a:solidFill>
                  <a:srgbClr val="1E293B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却很难创造一句真正让人</a:t>
            </a:r>
            <a:r>
              <a:rPr lang="en-US" sz="2400" b="0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会心一笑</a:t>
            </a:r>
            <a:r>
              <a:rPr lang="en-US" sz="2400" b="0" i="0" u="none" strike="noStrike" cap="none">
                <a:solidFill>
                  <a:srgbClr val="1E293B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的表达。</a:t>
            </a:r>
            <a:endParaRPr lang="en-US" sz="2400" b="0" i="0" u="none" strike="noStrike" cap="none">
              <a:solidFill>
                <a:srgbClr val="1E293B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3754755"/>
            <a:ext cx="4879340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真正打动人的内容，往往来自真实的人、真实的情绪与真实的生活经验，以及长期积累的“互联网文化”创造力。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838315" y="2004575"/>
            <a:ext cx="426720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让</a:t>
            </a:r>
            <a:r>
              <a:rPr lang="en-US" altLang="zh-CN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AI</a:t>
            </a:r>
            <a:r>
              <a:rPr lang="zh-CN" altLang="en-US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成为</a:t>
            </a:r>
            <a:r>
              <a:rPr lang="en-US" altLang="zh-CN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lang="zh-CN" altLang="en-US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匹配者</a:t>
            </a:r>
            <a:r>
              <a:rPr lang="en-US" altLang="zh-CN" sz="210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”</a:t>
            </a:r>
            <a:endParaRPr lang="en-US" altLang="zh-CN" sz="2100" b="0" i="0" u="none" strike="noStrike" cap="none">
              <a:solidFill>
                <a:srgbClr val="475569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877050" y="2448560"/>
            <a:ext cx="4228465" cy="218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在人机传播视角下，我们认为 AI 更适合作为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“表达协作</a:t>
            </a:r>
            <a:r>
              <a:rPr lang="zh-CN" altLang="en-US" sz="15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者</a:t>
            </a:r>
            <a:r>
              <a:rPr lang="en-US" sz="15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，而非“表达替代者”。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500" b="1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1500" b="1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4650" y="3220085"/>
            <a:ext cx="6096000" cy="589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sym typeface="Noto Sans SC" panose="020B0200000000000000" charset="-122"/>
              </a:rPr>
              <a:t>有意思的专属语言表达是个体独有的魅力</a:t>
            </a:r>
            <a:endParaRPr lang="zh-CN" altLang="en-US" sz="1800">
              <a:solidFill>
                <a:srgbClr val="475569"/>
              </a:solidFill>
              <a:latin typeface="思源宋体 CN Heavy" panose="02020900000000000000" charset="-122"/>
              <a:ea typeface="思源宋体 CN Heavy" panose="020209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315" y="3759200"/>
            <a:ext cx="6096000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5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我们提倡：</a:t>
            </a:r>
            <a:endParaRPr lang="en-US" altLang="zh-CN" sz="15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zh-CN" altLang="en-US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</a:t>
            </a:r>
            <a:r>
              <a:rPr lang="en-US" altLang="zh-CN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r>
              <a:rPr lang="en-US" sz="15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负责创造情感与意义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zh-CN" altLang="en-US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</a:t>
            </a:r>
            <a:r>
              <a:rPr lang="en-US" altLang="zh-CN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en-US" sz="15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负责理解需求与降低表达成本。</a:t>
            </a:r>
            <a:endParaRPr lang="en-US" altLang="en-US" sz="15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7750" y="5105400"/>
            <a:ext cx="10096500" cy="697865"/>
            <a:chOff x="1650" y="8040"/>
            <a:chExt cx="15900" cy="1099"/>
          </a:xfrm>
        </p:grpSpPr>
        <p:sp>
          <p:nvSpPr>
            <p:cNvPr id="6" name="Google Shape;195;p20"/>
            <p:cNvSpPr txBox="1"/>
            <p:nvPr/>
          </p:nvSpPr>
          <p:spPr>
            <a:xfrm>
              <a:off x="1650" y="8340"/>
              <a:ext cx="15900" cy="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AI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应该承担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“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连接者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”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或者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“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匹配者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”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的角色，而不是从零开始替用户造句。</a:t>
              </a:r>
              <a:endParaRPr lang="zh-CN" altLang="en-US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" name="Google Shape;196;p20"/>
            <p:cNvSpPr/>
            <p:nvPr/>
          </p:nvSpPr>
          <p:spPr>
            <a:xfrm>
              <a:off x="1650" y="8040"/>
              <a:ext cx="15900" cy="3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6429375" y="2097285"/>
            <a:ext cx="2214562" cy="108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929687" y="2097285"/>
            <a:ext cx="2214562" cy="108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6429375" y="3562201"/>
            <a:ext cx="2214562" cy="108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8929687" y="3562201"/>
            <a:ext cx="2214562" cy="108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朋友圈：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一个</a:t>
            </a: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自我呈现与身份表达的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空间</a:t>
            </a:r>
            <a:endParaRPr lang="zh-CN" alt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5848350"/>
            <a:ext cx="216812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 NEEDS &amp; CONTEXT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441483" y="5848350"/>
            <a:ext cx="70276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03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2097285"/>
            <a:ext cx="4714875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在社交媒体时代，朋友圈已不仅是生活记录工具，更成为用户进行自我呈现与身份表达的重要空间。</a:t>
            </a:r>
            <a:endParaRPr lang="zh-CN" altLang="en-US" sz="1650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47750" y="3763010"/>
            <a:ext cx="4714240" cy="1022350"/>
            <a:chOff x="1650" y="4918"/>
            <a:chExt cx="7424" cy="1610"/>
          </a:xfrm>
        </p:grpSpPr>
        <p:sp>
          <p:nvSpPr>
            <p:cNvPr id="118" name="Google Shape;118;p15"/>
            <p:cNvSpPr txBox="1"/>
            <p:nvPr/>
          </p:nvSpPr>
          <p:spPr>
            <a:xfrm>
              <a:off x="1650" y="4918"/>
              <a:ext cx="7425" cy="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用户核心痛点</a:t>
              </a:r>
              <a:endParaRPr lang="en-US" sz="1500" b="0" i="0" u="none" strike="noStrike" cap="none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1650" y="5438"/>
              <a:ext cx="7425" cy="1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· 找文案耗时，表达面临瓶颈与社交呈现压力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</a:br>
              <a:r>
                <a:rPr lang="en-US" sz="1500" b="0" i="0" u="none" strike="noStrike" cap="none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· 难以打破固有圈层，找到符合个人特定风格的内容</a:t>
              </a:r>
              <a:endPara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20" name="Google Shape;120;p15"/>
          <p:cNvSpPr txBox="1"/>
          <p:nvPr>
            <p:custDataLst>
              <p:tags r:id="rId11"/>
            </p:custDataLst>
          </p:nvPr>
        </p:nvSpPr>
        <p:spPr>
          <a:xfrm>
            <a:off x="6429375" y="2259210"/>
            <a:ext cx="221456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72.5%</a:t>
            </a:r>
            <a:endParaRPr lang="en-US" sz="42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p15"/>
          <p:cNvSpPr txBox="1"/>
          <p:nvPr>
            <p:custDataLst>
              <p:tags r:id="rId12"/>
            </p:custDataLst>
          </p:nvPr>
        </p:nvSpPr>
        <p:spPr>
          <a:xfrm>
            <a:off x="6429375" y="2906910"/>
            <a:ext cx="221456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寻找文案参考</a:t>
            </a:r>
            <a:endParaRPr lang="en-US" sz="1200" b="1" i="0" u="none" strike="noStrike" cap="none">
              <a:solidFill>
                <a:srgbClr val="64748B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2" name="Google Shape;122;p15"/>
          <p:cNvSpPr txBox="1"/>
          <p:nvPr>
            <p:custDataLst>
              <p:tags r:id="rId13"/>
            </p:custDataLst>
          </p:nvPr>
        </p:nvSpPr>
        <p:spPr>
          <a:xfrm>
            <a:off x="8929687" y="2259210"/>
            <a:ext cx="2214562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60.8%</a:t>
            </a:r>
            <a:endParaRPr lang="en-US" sz="42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23" name="Google Shape;123;p15"/>
          <p:cNvSpPr txBox="1"/>
          <p:nvPr>
            <p:custDataLst>
              <p:tags r:id="rId14"/>
            </p:custDataLst>
          </p:nvPr>
        </p:nvSpPr>
        <p:spPr>
          <a:xfrm>
            <a:off x="8929687" y="2906910"/>
            <a:ext cx="2214562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风格不匹配</a:t>
            </a:r>
            <a:endParaRPr lang="en-US" sz="1200" b="1" i="0" u="none" strike="noStrike" cap="none">
              <a:solidFill>
                <a:srgbClr val="64748B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4" name="Google Shape;124;p15"/>
          <p:cNvSpPr txBox="1"/>
          <p:nvPr>
            <p:custDataLst>
              <p:tags r:id="rId15"/>
            </p:custDataLst>
          </p:nvPr>
        </p:nvSpPr>
        <p:spPr>
          <a:xfrm>
            <a:off x="6429375" y="3724126"/>
            <a:ext cx="221456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51.9%</a:t>
            </a:r>
            <a:endParaRPr lang="en-US" sz="42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p15"/>
          <p:cNvSpPr txBox="1"/>
          <p:nvPr>
            <p:custDataLst>
              <p:tags r:id="rId16"/>
            </p:custDataLst>
          </p:nvPr>
        </p:nvSpPr>
        <p:spPr>
          <a:xfrm>
            <a:off x="6429375" y="4371826"/>
            <a:ext cx="221456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朋友圈文案缺新意</a:t>
            </a:r>
            <a:endParaRPr lang="en-US" sz="1200" b="1" i="0" u="none" strike="noStrike" cap="none">
              <a:solidFill>
                <a:srgbClr val="64748B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6" name="Google Shape;126;p15"/>
          <p:cNvSpPr txBox="1"/>
          <p:nvPr>
            <p:custDataLst>
              <p:tags r:id="rId17"/>
            </p:custDataLst>
          </p:nvPr>
        </p:nvSpPr>
        <p:spPr>
          <a:xfrm>
            <a:off x="8929687" y="3724126"/>
            <a:ext cx="221456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49.4%</a:t>
            </a:r>
            <a:endParaRPr lang="en-US" sz="42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p15"/>
          <p:cNvSpPr txBox="1"/>
          <p:nvPr>
            <p:custDataLst>
              <p:tags r:id="rId18"/>
            </p:custDataLst>
          </p:nvPr>
        </p:nvSpPr>
        <p:spPr>
          <a:xfrm>
            <a:off x="8929687" y="4371826"/>
            <a:ext cx="221456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场景匹配困难</a:t>
            </a:r>
            <a:endParaRPr lang="en-US" sz="1200" b="1" i="0" u="none" strike="noStrike" cap="none">
              <a:solidFill>
                <a:srgbClr val="64748B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7750" y="5105400"/>
            <a:ext cx="10096500" cy="443865"/>
            <a:chOff x="1650" y="8040"/>
            <a:chExt cx="15900" cy="699"/>
          </a:xfrm>
        </p:grpSpPr>
        <p:sp>
          <p:nvSpPr>
            <p:cNvPr id="195" name="Google Shape;195;p20"/>
            <p:cNvSpPr txBox="1"/>
            <p:nvPr/>
          </p:nvSpPr>
          <p:spPr>
            <a:xfrm>
              <a:off x="1650" y="8340"/>
              <a:ext cx="15900" cy="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AI 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工具的深层价值在于降低表达焦虑和门槛，帮助用户更轻松、更准确地表达自己。</a:t>
              </a:r>
              <a:endParaRPr lang="zh-CN" altLang="en-US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650" y="8040"/>
              <a:ext cx="15900" cy="3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47750" y="2995295"/>
            <a:ext cx="4603750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寻找的往往不仅是一句文案，而是一种能够准确传递自我形象与情绪状态的表达方式。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47750" y="3168650"/>
            <a:ext cx="0" cy="3746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设计逻辑：以用户为中心的AI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匹配</a:t>
            </a: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链条</a:t>
            </a:r>
            <a:endParaRPr 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047750" y="5848350"/>
            <a:ext cx="228391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INTERACTION WORKFLOW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0441483" y="584835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04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1047750" y="1954410"/>
            <a:ext cx="358318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AI</a:t>
            </a:r>
            <a:r>
              <a:rPr lang="zh-CN" altLang="en-US" sz="21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和用户的</a:t>
            </a:r>
            <a:r>
              <a:rPr lang="en-US" altLang="zh-CN" sz="21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lang="zh-CN" altLang="en-US" sz="21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双向奔赴</a:t>
            </a:r>
            <a:r>
              <a:rPr lang="en-US" altLang="zh-CN" sz="21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”</a:t>
            </a:r>
            <a:endParaRPr lang="en-US" altLang="zh-CN" sz="21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047750" y="2506860"/>
            <a:ext cx="3583185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在整个流程中，AI 负责</a:t>
            </a:r>
            <a:r>
              <a:rPr lang="en-US" b="1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理解和推荐</a:t>
            </a:r>
            <a:r>
              <a:rPr lang="en-US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，用户始终拥有</a:t>
            </a:r>
            <a:r>
              <a:rPr lang="zh-CN" altLang="en-US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对</a:t>
            </a:r>
            <a:r>
              <a:rPr lang="zh-CN" altLang="en-US" b="1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自己表达</a:t>
            </a:r>
            <a:r>
              <a:rPr lang="zh-CN" altLang="en-US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的</a:t>
            </a:r>
            <a:r>
              <a:rPr lang="en-US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Noto Sans SC" panose="020B0200000000000000" charset="-122"/>
              </a:rPr>
              <a:t>最终决定权。</a:t>
            </a:r>
            <a:endParaRPr lang="en-US" i="0" u="none" strike="noStrike" cap="none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Noto Sans SC" panose="020B0200000000000000" charset="-122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047750" y="3478410"/>
            <a:ext cx="358318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u="none" strike="noStrike" cap="none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互动的</a:t>
            </a:r>
            <a:r>
              <a:rPr lang="en-US" sz="2100" b="0" i="0" u="none" strike="noStrike" cap="none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核心</a:t>
            </a:r>
            <a:endParaRPr lang="en-US" sz="2100" b="0" i="0" u="none" strike="noStrike" cap="none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047750" y="3992760"/>
            <a:ext cx="3583185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b="0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让</a:t>
            </a:r>
            <a:r>
              <a:rPr lang="en-US" b="0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用户始终处于传播链条的核心位置，</a:t>
            </a:r>
            <a:r>
              <a:rPr lang="zh-CN" altLang="en-US" b="0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主导内容的生成和方向，</a:t>
            </a:r>
            <a:r>
              <a:rPr lang="en-US" b="0" i="0" u="none" strike="noStrike" cap="none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而 AI 承担的是推荐者、理解者与协作者的角色。</a:t>
            </a:r>
            <a:endParaRPr lang="en-US" b="0" i="0" u="none" strike="noStrike" cap="none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45360" y="1954410"/>
            <a:ext cx="5398889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01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用户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输入场景需求</a:t>
            </a:r>
            <a:endParaRPr lang="en-US" sz="1800" b="0" i="0" u="none" strike="noStrike" cap="none">
              <a:solidFill>
                <a:srgbClr val="334155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45360" y="2670621"/>
            <a:ext cx="5398889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02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AI 识别</a:t>
            </a:r>
            <a:r>
              <a:rPr lang="en-US" sz="18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用户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意图与表达目的</a:t>
            </a:r>
            <a:endParaRPr lang="en-US" sz="1800" b="0" i="0" u="none" strike="noStrike" cap="none">
              <a:solidFill>
                <a:srgbClr val="334155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745360" y="3513832"/>
            <a:ext cx="5398889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03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匹配真实</a:t>
            </a:r>
            <a:r>
              <a:rPr lang="en-US" sz="18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用户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创作语料</a:t>
            </a:r>
            <a:endParaRPr lang="en-US" sz="1800" b="0" i="0" u="none" strike="noStrike" cap="none">
              <a:solidFill>
                <a:srgbClr val="334155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745360" y="4293542"/>
            <a:ext cx="5398889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04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生成候选文案</a:t>
            </a:r>
            <a:endParaRPr lang="en-US" sz="1800" b="0" i="0" u="none" strike="noStrike" cap="none">
              <a:solidFill>
                <a:srgbClr val="334155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745480" y="5073015"/>
            <a:ext cx="3786505" cy="99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05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用户筛选、修改与再创作</a:t>
            </a:r>
            <a:r>
              <a:rPr lang="en-US" sz="1800" b="1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</a:t>
            </a:r>
            <a:endParaRPr lang="en-US" sz="1800" b="1" i="0" u="none" strike="noStrike" cap="none">
              <a:solidFill>
                <a:srgbClr val="334155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    →</a:t>
            </a:r>
            <a:r>
              <a:rPr lang="en-US" sz="1800" b="0" i="0" u="none" strike="noStrike" cap="none">
                <a:solidFill>
                  <a:srgbClr val="334155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完成最终表达</a:t>
            </a:r>
            <a:endParaRPr lang="en-US" sz="1800" b="1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25" y="1721485"/>
            <a:ext cx="2114550" cy="5556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t="2251"/>
          <a:stretch>
            <a:fillRect/>
          </a:stretch>
        </p:blipFill>
        <p:spPr>
          <a:xfrm>
            <a:off x="9636125" y="2549525"/>
            <a:ext cx="2114550" cy="3254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功能构建：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精准匹配与随机推荐</a:t>
            </a:r>
            <a:endParaRPr lang="zh-CN" alt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047750" y="5848350"/>
            <a:ext cx="208404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FUNCTION &amp; RESEARCH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0441483" y="584835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05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047750" y="2144910"/>
            <a:ext cx="4714875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调研结果显示，用户对于</a:t>
            </a:r>
            <a:r>
              <a:rPr lang="en-US" sz="1650" b="1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精准匹配类功能</a:t>
            </a:r>
            <a:r>
              <a:rPr lang="en-US" sz="165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的需求远高于随机推荐功能。</a:t>
            </a:r>
            <a:endParaRPr lang="en-US" sz="1650" b="0" i="0" u="none" strike="noStrike" cap="none">
              <a:solidFill>
                <a:srgbClr val="334155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047750" y="3137296"/>
            <a:ext cx="471487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用户功能需求排序</a:t>
            </a:r>
            <a:endParaRPr lang="en-US" b="0" i="0" u="none" strike="noStrike" cap="none">
              <a:solidFill>
                <a:schemeClr val="tx1">
                  <a:lumMod val="50000"/>
                  <a:lumOff val="50000"/>
                </a:schemeClr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047750" y="3432571"/>
            <a:ext cx="4714875" cy="74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标签匹配推荐 </a:t>
            </a:r>
            <a:r>
              <a:rPr lang="en-US" sz="135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场景分类推荐 &gt; 热门文案推荐 </a:t>
            </a:r>
            <a:endParaRPr lang="en-US" sz="135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AI生成文案 &gt; 随机抽取</a:t>
            </a:r>
            <a:endParaRPr lang="en-US" sz="135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365875" y="2062360"/>
            <a:ext cx="4714875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因此，我们最终选择围绕四种核心标签构建多维体系：</a:t>
            </a:r>
            <a:endParaRPr lang="en-US" sz="1600" b="0" i="0" u="none" strike="noStrike" cap="none">
              <a:solidFill>
                <a:srgbClr val="334155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429375" y="2678310"/>
            <a:ext cx="4714875" cy="120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场景标签 · 情绪标签</a:t>
            </a:r>
            <a:br>
              <a:rPr lang="en-US" sz="1600" b="0" i="0" u="none" strike="noStrike" cap="none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Calibri" panose="020F0502020204030204"/>
              </a:rPr>
            </a:br>
            <a:r>
              <a:rPr lang="en-US" sz="28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风格标签 · 目的标签</a:t>
            </a:r>
            <a:endParaRPr lang="en-US" sz="28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429375" y="4131766"/>
            <a:ext cx="471487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让 AI 理解用户，而不是让用户适应 AI。</a:t>
            </a:r>
            <a:endParaRPr lang="en-US" sz="1950" b="0" i="0" u="none" strike="noStrike" cap="none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324350"/>
            <a:ext cx="4621530" cy="12306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775" y="4578985"/>
            <a:ext cx="1306195" cy="929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0" y="4593590"/>
            <a:ext cx="1577975" cy="8108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1475" y="4593590"/>
            <a:ext cx="1431925" cy="848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8170" y="4578985"/>
            <a:ext cx="1282700" cy="756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003300" y="459105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功能细节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展示</a:t>
            </a:r>
            <a:endParaRPr lang="zh-CN" alt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003300" y="5572125"/>
            <a:ext cx="1009650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体验链接：</a:t>
            </a:r>
            <a:r>
              <a:rPr lang="en-US" altLang="zh-CN" sz="1650">
                <a:solidFill>
                  <a:srgbClr val="94A3B8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https://solkxiaoattyu.github.io/Spill-My-Bunny-Thoughts/</a:t>
            </a:r>
            <a:endParaRPr lang="zh-CN" altLang="en-US" sz="1650" b="1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827405" y="5382260"/>
            <a:ext cx="10096500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0441483" y="584835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06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图片 1" descr="屏幕截图 2026-06-29 154933"/>
          <p:cNvPicPr>
            <a:picLocks noChangeAspect="1"/>
          </p:cNvPicPr>
          <p:nvPr/>
        </p:nvPicPr>
        <p:blipFill>
          <a:blip r:embed="rId3"/>
          <a:srcRect l="8243" t="6991" r="10171" b="13407"/>
          <a:stretch>
            <a:fillRect/>
          </a:stretch>
        </p:blipFill>
        <p:spPr>
          <a:xfrm>
            <a:off x="1047750" y="1516380"/>
            <a:ext cx="2041525" cy="3575685"/>
          </a:xfrm>
          <a:prstGeom prst="rect">
            <a:avLst/>
          </a:prstGeom>
        </p:spPr>
      </p:pic>
      <p:sp>
        <p:nvSpPr>
          <p:cNvPr id="170" name="Google Shape;170;p18"/>
          <p:cNvSpPr txBox="1"/>
          <p:nvPr/>
        </p:nvSpPr>
        <p:spPr>
          <a:xfrm>
            <a:off x="3244850" y="1522730"/>
            <a:ext cx="2622550" cy="9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AI</a:t>
            </a:r>
            <a:r>
              <a:rPr lang="zh-CN" altLang="en-US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Noto Sans SC" panose="020B0200000000000000" charset="-122"/>
              </a:rPr>
              <a:t>匹配</a:t>
            </a:r>
            <a:endParaRPr lang="zh-CN" altLang="en-US" sz="1600" b="1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输入自己的想法，</a:t>
            </a:r>
            <a:r>
              <a:rPr lang="en-US" altLang="zh-CN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自动拆词利用语义检索（优先）和全文检索进行语料库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的匹配</a:t>
            </a:r>
            <a:endParaRPr lang="zh-CN" altLang="en-US" sz="1200" b="0" i="0" u="none" strike="noStrike" cap="none">
              <a:solidFill>
                <a:srgbClr val="334155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Google Shape;170;p18"/>
          <p:cNvSpPr txBox="1"/>
          <p:nvPr/>
        </p:nvSpPr>
        <p:spPr>
          <a:xfrm>
            <a:off x="3244850" y="2614930"/>
            <a:ext cx="2402840" cy="81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随机</a:t>
            </a:r>
            <a:r>
              <a:rPr lang="zh-CN" altLang="en-US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抽取</a:t>
            </a:r>
            <a:endParaRPr lang="zh-CN" altLang="en-US" sz="1600" b="1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不知道发什么比较好的时候可以随机抽取句子发，适合娱乐场景</a:t>
            </a:r>
            <a:endParaRPr lang="zh-CN" altLang="en-US" sz="1200" b="0" i="0" u="none" strike="noStrike" cap="none">
              <a:solidFill>
                <a:srgbClr val="334155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Google Shape;170;p18"/>
          <p:cNvSpPr txBox="1"/>
          <p:nvPr/>
        </p:nvSpPr>
        <p:spPr>
          <a:xfrm>
            <a:off x="3281680" y="3576955"/>
            <a:ext cx="2402840" cy="9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标签</a:t>
            </a:r>
            <a:r>
              <a:rPr lang="zh-CN" altLang="en-US" sz="1600" b="1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速配</a:t>
            </a:r>
            <a:endParaRPr lang="zh-CN" altLang="en-US" sz="1600" b="1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>
                <a:solidFill>
                  <a:srgbClr val="334155"/>
                </a:solidFill>
                <a:latin typeface="思源黑体 CN Medium" panose="020B0600000000000000" charset="-122"/>
                <a:ea typeface="思源黑体 CN Medium" panose="020B0600000000000000" charset="-122"/>
                <a:cs typeface="Noto Sans SC" panose="020B0200000000000000" charset="-122"/>
                <a:sym typeface="Noto Sans SC" panose="020B0200000000000000" charset="-122"/>
              </a:rPr>
              <a:t>通过选择题来匹配自己想要的文案，应用场景主要是有大概方向但是不知道发什么的情况</a:t>
            </a:r>
            <a:endParaRPr lang="zh-CN" altLang="en-US" sz="1200" b="0" i="0" u="none" strike="noStrike" cap="none">
              <a:solidFill>
                <a:srgbClr val="334155"/>
              </a:solidFill>
              <a:latin typeface="思源黑体 CN Medium" panose="020B0600000000000000" charset="-122"/>
              <a:ea typeface="思源黑体 CN Medium" panose="020B06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图片 7" descr="屏幕截图 2026-07-04 215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135" y="1978025"/>
            <a:ext cx="1894205" cy="481330"/>
          </a:xfrm>
          <a:prstGeom prst="rect">
            <a:avLst/>
          </a:prstGeom>
        </p:spPr>
      </p:pic>
      <p:pic>
        <p:nvPicPr>
          <p:cNvPr id="9" name="图片 8" descr="屏幕截图 2026-07-04 215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845" y="2539365"/>
            <a:ext cx="1526540" cy="2248535"/>
          </a:xfrm>
          <a:prstGeom prst="rect">
            <a:avLst/>
          </a:prstGeom>
        </p:spPr>
      </p:pic>
      <p:pic>
        <p:nvPicPr>
          <p:cNvPr id="10" name="图片 9" descr="屏幕截图 2026-06-29 234613"/>
          <p:cNvPicPr>
            <a:picLocks noChangeAspect="1"/>
          </p:cNvPicPr>
          <p:nvPr/>
        </p:nvPicPr>
        <p:blipFill>
          <a:blip r:embed="rId6"/>
          <a:srcRect l="1946" t="8275" r="2504" b="10465"/>
          <a:stretch>
            <a:fillRect/>
          </a:stretch>
        </p:blipFill>
        <p:spPr>
          <a:xfrm>
            <a:off x="8072755" y="1978025"/>
            <a:ext cx="1743710" cy="2599690"/>
          </a:xfrm>
          <a:prstGeom prst="rect">
            <a:avLst/>
          </a:prstGeom>
        </p:spPr>
      </p:pic>
      <p:pic>
        <p:nvPicPr>
          <p:cNvPr id="11" name="图片 10" descr="屏幕截图 2026-06-29 235424"/>
          <p:cNvPicPr>
            <a:picLocks noChangeAspect="1"/>
          </p:cNvPicPr>
          <p:nvPr/>
        </p:nvPicPr>
        <p:blipFill>
          <a:blip r:embed="rId7"/>
          <a:srcRect b="28907"/>
          <a:stretch>
            <a:fillRect/>
          </a:stretch>
        </p:blipFill>
        <p:spPr>
          <a:xfrm>
            <a:off x="9961880" y="1978025"/>
            <a:ext cx="1795145" cy="26949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360795" y="1597660"/>
            <a:ext cx="1310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>AI</a:t>
            </a:r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>匹配</a:t>
            </a:r>
            <a:endParaRPr lang="zh-CN" altLang="en-US" b="1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35620" y="1597660"/>
            <a:ext cx="16173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>标签速配</a:t>
            </a:r>
            <a:endParaRPr lang="zh-CN" altLang="en-US" b="1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217150" y="1597660"/>
            <a:ext cx="1310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匹配</a:t>
            </a:r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历史</a:t>
            </a:r>
            <a:endParaRPr lang="zh-CN" altLang="en-US" b="1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83550" y="2410460"/>
            <a:ext cx="1892300" cy="1162050"/>
          </a:xfrm>
          <a:prstGeom prst="rect">
            <a:avLst/>
          </a:prstGeom>
          <a:noFill/>
          <a:ln>
            <a:solidFill>
              <a:srgbClr val="60A5F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199755" y="4577715"/>
            <a:ext cx="1617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>懒人一键</a:t>
            </a:r>
            <a:r>
              <a:rPr lang="zh-CN" altLang="en-US" b="1">
                <a:solidFill>
                  <a:srgbClr val="60A5F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</a:rPr>
              <a:t>入口</a:t>
            </a:r>
            <a:endParaRPr lang="zh-CN" altLang="en-US" b="1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  <a:p>
            <a:pPr algn="ctr"/>
            <a:endParaRPr lang="zh-CN" altLang="en-US" b="1">
              <a:solidFill>
                <a:srgbClr val="60A5F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104890" y="934720"/>
            <a:ext cx="6239510" cy="589280"/>
            <a:chOff x="9601" y="7279"/>
            <a:chExt cx="9826" cy="928"/>
          </a:xfrm>
        </p:grpSpPr>
        <p:sp>
          <p:nvSpPr>
            <p:cNvPr id="19" name="文本框 18"/>
            <p:cNvSpPr txBox="1"/>
            <p:nvPr/>
          </p:nvSpPr>
          <p:spPr>
            <a:xfrm>
              <a:off x="9827" y="7279"/>
              <a:ext cx="9600" cy="9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l" rtl="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面对不同的选择场景让</a:t>
              </a:r>
              <a:r>
                <a:rPr lang="en-US" altLang="zh-CN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AI</a:t>
              </a:r>
              <a:r>
                <a:rPr lang="zh-CN" altLang="en-US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提供</a:t>
              </a:r>
              <a:r>
                <a:rPr lang="zh-CN" altLang="en-US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更精准的</a:t>
              </a:r>
              <a:r>
                <a:rPr lang="zh-CN" altLang="en-US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需求</a:t>
              </a:r>
              <a:r>
                <a:rPr lang="zh-CN" altLang="en-US" sz="1800">
                  <a:solidFill>
                    <a:srgbClr val="475569"/>
                  </a:solidFill>
                  <a:latin typeface="思源宋体 CN Heavy" panose="02020900000000000000" charset="-122"/>
                  <a:ea typeface="思源宋体 CN Heavy" panose="02020900000000000000" charset="-122"/>
                  <a:sym typeface="Noto Sans SC" panose="020B0200000000000000" charset="-122"/>
                </a:rPr>
                <a:t>帮助</a:t>
              </a:r>
              <a:endParaRPr lang="zh-CN" altLang="en-US" sz="1800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9601" y="7577"/>
              <a:ext cx="0" cy="63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开发流程：技术赋能人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的表达</a:t>
            </a:r>
            <a:endParaRPr lang="zh-CN" alt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7750" y="5105400"/>
            <a:ext cx="10096500" cy="443230"/>
            <a:chOff x="1650" y="8040"/>
            <a:chExt cx="15900" cy="698"/>
          </a:xfrm>
        </p:grpSpPr>
        <p:sp>
          <p:nvSpPr>
            <p:cNvPr id="195" name="Google Shape;195;p20"/>
            <p:cNvSpPr txBox="1"/>
            <p:nvPr/>
          </p:nvSpPr>
          <p:spPr>
            <a:xfrm>
              <a:off x="1650" y="8340"/>
              <a:ext cx="15900" cy="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技术实现并非为了追求更强的盲目生成能力，而是让人获得保存温度的好表达。</a:t>
              </a:r>
              <a:endParaRPr lang="zh-CN" altLang="en-US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650" y="8040"/>
              <a:ext cx="15900" cy="3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1047750" y="5848350"/>
            <a:ext cx="27478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DEVELOPMENT &amp; TECHNOLOGY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0441483" y="584835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07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9" name="Google Shape;199;p20"/>
          <p:cNvSpPr txBox="1"/>
          <p:nvPr>
            <p:custDataLst>
              <p:tags r:id="rId3"/>
            </p:custDataLst>
          </p:nvPr>
        </p:nvSpPr>
        <p:spPr>
          <a:xfrm>
            <a:off x="1047750" y="1954410"/>
            <a:ext cx="3233685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01 / </a:t>
            </a:r>
            <a:r>
              <a:rPr lang="zh-CN" alt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真实文案</a:t>
            </a:r>
            <a:r>
              <a:rPr lang="zh-CN" alt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收集</a:t>
            </a:r>
            <a:endParaRPr lang="zh-CN" altLang="en-US" sz="16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200" name="Google Shape;200;p20"/>
          <p:cNvSpPr txBox="1"/>
          <p:nvPr>
            <p:custDataLst>
              <p:tags r:id="rId4"/>
            </p:custDataLst>
          </p:nvPr>
        </p:nvSpPr>
        <p:spPr>
          <a:xfrm>
            <a:off x="1047750" y="2383035"/>
            <a:ext cx="30797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用户场景梳理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洞察朋友圈的高频真实</a:t>
            </a:r>
            <a:r>
              <a:rPr lang="zh-CN" alt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语料建设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筛选5000+兼具人类温度的原创素材</a:t>
            </a:r>
            <a:endParaRPr lang="en-US" sz="15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1" name="Google Shape;201;p20"/>
          <p:cNvSpPr txBox="1"/>
          <p:nvPr>
            <p:custDataLst>
              <p:tags r:id="rId5"/>
            </p:custDataLst>
          </p:nvPr>
        </p:nvSpPr>
        <p:spPr>
          <a:xfrm>
            <a:off x="4556075" y="1954410"/>
            <a:ext cx="3233685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02 / 核心构建</a:t>
            </a:r>
            <a:endParaRPr lang="en-US" sz="16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202" name="Google Shape;202;p20"/>
          <p:cNvSpPr txBox="1"/>
          <p:nvPr>
            <p:custDataLst>
              <p:tags r:id="rId6"/>
            </p:custDataLst>
          </p:nvPr>
        </p:nvSpPr>
        <p:spPr>
          <a:xfrm>
            <a:off x="4556075" y="2383035"/>
            <a:ext cx="30797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标签体系构建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多维度的文本与场景交叉分类</a:t>
            </a:r>
            <a:r>
              <a:rPr lang="zh-CN" alt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匹配</a:t>
            </a:r>
            <a:r>
              <a:rPr lang="zh-CN" alt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映射</a:t>
            </a: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开发：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个性化需求与语料库高效映射</a:t>
            </a:r>
            <a:endParaRPr lang="en-US" sz="15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3" name="Google Shape;203;p20"/>
          <p:cNvSpPr txBox="1"/>
          <p:nvPr>
            <p:custDataLst>
              <p:tags r:id="rId7"/>
            </p:custDataLst>
          </p:nvPr>
        </p:nvSpPr>
        <p:spPr>
          <a:xfrm>
            <a:off x="8064400" y="1954410"/>
            <a:ext cx="3233841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03 / </a:t>
            </a:r>
            <a:r>
              <a:rPr lang="zh-CN" alt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双向</a:t>
            </a:r>
            <a:r>
              <a:rPr lang="zh-CN" altLang="en-US" sz="16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奔赴</a:t>
            </a:r>
            <a:endParaRPr lang="zh-CN" altLang="en-US" sz="16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204" name="Google Shape;204;p20"/>
          <p:cNvSpPr txBox="1"/>
          <p:nvPr>
            <p:custDataLst>
              <p:tags r:id="rId8"/>
            </p:custDataLst>
          </p:nvPr>
        </p:nvSpPr>
        <p:spPr>
          <a:xfrm>
            <a:off x="8064500" y="2383155"/>
            <a:ext cx="3269615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AI 识别需求：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准确识别隐性表达目的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Noto Sans SC" panose="020B0200000000000000" charset="-122"/>
                <a:sym typeface="Noto Sans SC" panose="020B0200000000000000" charset="-122"/>
              </a:rPr>
              <a:t>用户体验优化：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尊重用户的内心想法，提供准确</a:t>
            </a:r>
            <a:r>
              <a:rPr lang="zh-CN" altLang="en-US" sz="15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</a:t>
            </a:r>
            <a:endParaRPr lang="zh-CN" altLang="en-US" sz="15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" name="直接连接符 1"/>
          <p:cNvCxnSpPr>
            <a:stCxn id="199" idx="3"/>
          </p:cNvCxnSpPr>
          <p:nvPr/>
        </p:nvCxnSpPr>
        <p:spPr>
          <a:xfrm>
            <a:off x="4281170" y="2080895"/>
            <a:ext cx="0" cy="2151380"/>
          </a:xfrm>
          <a:prstGeom prst="line">
            <a:avLst/>
          </a:prstGeom>
          <a:ln w="9525">
            <a:solidFill>
              <a:srgbClr val="4B596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635875" y="2080895"/>
            <a:ext cx="0" cy="2151380"/>
          </a:xfrm>
          <a:prstGeom prst="line">
            <a:avLst/>
          </a:prstGeom>
          <a:ln w="9525">
            <a:solidFill>
              <a:srgbClr val="4B596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差异化：传统单向路径 vs 协同双向互动</a:t>
            </a:r>
            <a:endParaRPr 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047750" y="5848350"/>
            <a:ext cx="252099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DIFFERENTIATION ANALYSIS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0441483" y="584835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08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047750" y="2144910"/>
            <a:ext cx="476250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sym typeface="Arial" panose="020B0604020202020204"/>
              </a:rPr>
              <a:t>当前多数市场产品</a:t>
            </a:r>
            <a:endParaRPr lang="en-US" sz="15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047750" y="2459235"/>
            <a:ext cx="4762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B596D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AI 生成 → 用户使用</a:t>
            </a:r>
            <a:endParaRPr lang="en-US" sz="2400" b="0" i="0" u="none" strike="noStrike" cap="none">
              <a:solidFill>
                <a:srgbClr val="4B596D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1047750" y="2910205"/>
            <a:ext cx="466217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5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单向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用户往往只是结果的被动接受者，缺乏个性的交融与再创造空间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或者耗费大量的成本在检索符合需求的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内容。</a:t>
            </a:r>
            <a:endParaRPr lang="zh-CN" alt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829425" y="2144910"/>
            <a:ext cx="4314825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我们的产品模式</a:t>
            </a:r>
            <a:endParaRPr lang="en-US" sz="1650" b="0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829425" y="2459355"/>
            <a:ext cx="459359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Arial" panose="020B0604020202020204"/>
              </a:rPr>
              <a:t>需求触发 → AI 理解 → 选择表达</a:t>
            </a:r>
            <a:endParaRPr lang="en-US" sz="2400" b="0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Arial" panose="020B0604020202020204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829425" y="2900680"/>
            <a:ext cx="431546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500" b="1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双向互动</a:t>
            </a:r>
            <a:r>
              <a:rPr 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</a:t>
            </a:r>
            <a:r>
              <a:rPr lang="zh-CN" alt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不直接替代表达，而是深度参与表达过程</a:t>
            </a:r>
            <a:r>
              <a:rPr lang="zh-CN" alt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，帮助用户更快的定位自己的需求并提供有温度的</a:t>
            </a:r>
            <a:r>
              <a:rPr lang="zh-CN" altLang="en-US" sz="15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内容。</a:t>
            </a:r>
            <a:endParaRPr lang="zh-CN" altLang="en-US" sz="1500" b="0" i="0" u="none" strike="noStrike" cap="none">
              <a:solidFill>
                <a:srgbClr val="1E29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47750" y="4103370"/>
            <a:ext cx="4870450" cy="830580"/>
            <a:chOff x="1680" y="6345"/>
            <a:chExt cx="7670" cy="1308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1680" y="6405"/>
              <a:ext cx="0" cy="103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Google Shape;184;p19"/>
            <p:cNvSpPr txBox="1"/>
            <p:nvPr/>
          </p:nvSpPr>
          <p:spPr>
            <a:xfrm>
              <a:off x="1850" y="6345"/>
              <a:ext cx="7500" cy="1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      </a:t>
              </a:r>
              <a:r>
                <a:rPr lang="en-US" sz="1200" b="1" i="0" u="none" strike="noStrike" cap="non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ChatGPT</a:t>
              </a:r>
              <a:r>
                <a:rPr lang="en-US" sz="1200" b="0" i="0" u="none" strike="noStrike" cap="non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等通用AI能够快速生成文案，但用户常会产生“内容正确，却不像自己”的体验；而传统的            </a:t>
              </a:r>
              <a:r>
                <a:rPr lang="en-US" sz="1200" b="1" i="0" u="none" strike="noStrike" cap="non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小红书</a:t>
              </a:r>
              <a:r>
                <a:rPr lang="en-US" sz="1200" b="0" i="0" u="none" strike="noStrike" cap="non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搜索存在筛选成本高的问题。</a:t>
              </a:r>
              <a:endParaRPr lang="en-US" sz="1200" b="0" i="0" u="none" strike="noStrike" cap="non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1" name="图片 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6" y="6345"/>
              <a:ext cx="440" cy="50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5" y="6712"/>
              <a:ext cx="621" cy="59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6829425" y="4011930"/>
            <a:ext cx="4527550" cy="922020"/>
            <a:chOff x="10755" y="6417"/>
            <a:chExt cx="7130" cy="1452"/>
          </a:xfrm>
        </p:grpSpPr>
        <p:sp>
          <p:nvSpPr>
            <p:cNvPr id="5" name="文本框 4"/>
            <p:cNvSpPr txBox="1"/>
            <p:nvPr/>
          </p:nvSpPr>
          <p:spPr>
            <a:xfrm>
              <a:off x="10755" y="6417"/>
              <a:ext cx="7130" cy="14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50000"/>
                </a:lnSpc>
              </a:pPr>
              <a:r>
                <a:rPr lang="en-US" sz="1200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面对同一组旅行照片，AI负责理解用户希望传递的身份形象与情绪状态，而最终决定</a:t>
              </a:r>
              <a:r>
                <a:rPr lang="en-US" sz="1200" b="1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“我想成为谁眼中的什么样的人”</a:t>
              </a:r>
              <a:r>
                <a:rPr lang="en-US" sz="1200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的，仍然是用户自身。</a:t>
              </a:r>
              <a:endParaRPr lang="en-US" sz="1200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0755" y="6664"/>
              <a:ext cx="0" cy="103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1047750" y="5105400"/>
            <a:ext cx="10096500" cy="697865"/>
            <a:chOff x="1650" y="8040"/>
            <a:chExt cx="15900" cy="1099"/>
          </a:xfrm>
        </p:grpSpPr>
        <p:sp>
          <p:nvSpPr>
            <p:cNvPr id="195" name="Google Shape;195;p20"/>
            <p:cNvSpPr txBox="1"/>
            <p:nvPr/>
          </p:nvSpPr>
          <p:spPr>
            <a:xfrm>
              <a:off x="1650" y="8340"/>
              <a:ext cx="15900" cy="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未来的人机关系可能不是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“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人使用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AI”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，而是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“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人与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AI</a:t>
              </a:r>
              <a:r>
                <a:rPr lang="zh-CN" altLang="en-US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共同完成传播行为</a:t>
              </a:r>
              <a:r>
                <a:rPr lang="en-US" altLang="zh-CN" sz="1650" b="1" i="0" u="none" strike="noStrike" cap="none">
                  <a:solidFill>
                    <a:srgbClr val="0F172A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Arial" panose="020B0604020202020204"/>
                  <a:sym typeface="Arial" panose="020B0604020202020204"/>
                </a:rPr>
                <a:t>”</a:t>
              </a:r>
              <a:endParaRPr lang="en-US" altLang="zh-CN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sz="1650" b="1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650" y="8040"/>
              <a:ext cx="15900" cy="3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76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6916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047750" y="857250"/>
            <a:ext cx="106013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不足与社会影响：AI 辅助表达的边界</a:t>
            </a:r>
            <a:endParaRPr 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047750" y="5916810"/>
            <a:ext cx="321483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LIMITATIONS &amp; SOCIAL REFLECTION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0441483" y="5916810"/>
            <a:ext cx="702766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09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047750" y="1954410"/>
            <a:ext cx="428625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产品现存瓶颈</a:t>
            </a:r>
            <a:endParaRPr lang="en-US" sz="1650" b="0" i="0" u="none" strike="noStrike" cap="none">
              <a:solidFill>
                <a:srgbClr val="475569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047750" y="2430660"/>
            <a:ext cx="4286250" cy="145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商业属性不强，尚未形成清晰变现路径</a:t>
            </a:r>
            <a:endParaRPr lang="zh-CN" alt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Calibri" panose="020F0502020204030204"/>
              </a:rPr>
              <a:t>热门评论抓取存在潜在版权风险</a:t>
            </a:r>
            <a:b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Calibri" panose="020F0502020204030204"/>
              </a:rPr>
            </a:b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匹配仅为语义接近，复杂语境仍有局限</a:t>
            </a:r>
            <a:endParaRPr lang="zh-CN" alt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15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</a:t>
            </a: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语料库清洗不够干净，需进一步人工筛选</a:t>
            </a:r>
            <a:endParaRPr lang="zh-CN" alt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6" name="Google Shape;216;p21"/>
          <p:cNvSpPr txBox="1"/>
          <p:nvPr>
            <p:custDataLst>
              <p:tags r:id="rId3"/>
            </p:custDataLst>
          </p:nvPr>
        </p:nvSpPr>
        <p:spPr>
          <a:xfrm>
            <a:off x="6048375" y="1954410"/>
            <a:ext cx="5350668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表达同质化风险</a:t>
            </a:r>
            <a:endParaRPr lang="en-US" sz="18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7" name="Google Shape;217;p21"/>
          <p:cNvSpPr/>
          <p:nvPr>
            <p:custDataLst>
              <p:tags r:id="rId4"/>
            </p:custDataLst>
          </p:nvPr>
        </p:nvSpPr>
        <p:spPr>
          <a:xfrm>
            <a:off x="5905500" y="1954410"/>
            <a:ext cx="38100" cy="30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1"/>
          <p:cNvSpPr txBox="1"/>
          <p:nvPr>
            <p:custDataLst>
              <p:tags r:id="rId5"/>
            </p:custDataLst>
          </p:nvPr>
        </p:nvSpPr>
        <p:spPr>
          <a:xfrm>
            <a:off x="5905500" y="2354460"/>
            <a:ext cx="52387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当越来越多用户依赖 AI 辅助表达时，是否会导致朋友圈语言风格逐渐趋同？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9" name="Google Shape;219;p21"/>
          <p:cNvSpPr txBox="1"/>
          <p:nvPr>
            <p:custDataLst>
              <p:tags r:id="rId6"/>
            </p:custDataLst>
          </p:nvPr>
        </p:nvSpPr>
        <p:spPr>
          <a:xfrm>
            <a:off x="6048375" y="3268860"/>
            <a:ext cx="5350668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表达真实性问题</a:t>
            </a:r>
            <a:endParaRPr lang="en-US" sz="18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Google Shape;220;p21"/>
          <p:cNvSpPr/>
          <p:nvPr>
            <p:custDataLst>
              <p:tags r:id="rId7"/>
            </p:custDataLst>
          </p:nvPr>
        </p:nvSpPr>
        <p:spPr>
          <a:xfrm>
            <a:off x="5905500" y="3268860"/>
            <a:ext cx="38100" cy="304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1"/>
          <p:cNvSpPr txBox="1"/>
          <p:nvPr>
            <p:custDataLst>
              <p:tags r:id="rId8"/>
            </p:custDataLst>
          </p:nvPr>
        </p:nvSpPr>
        <p:spPr>
          <a:xfrm>
            <a:off x="5905500" y="3668910"/>
            <a:ext cx="52387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如果一句话完全由 AI 推荐，它是否仍然能够代表用户当下的真实自我与情绪？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2" name="Google Shape;222;p21"/>
          <p:cNvSpPr txBox="1"/>
          <p:nvPr>
            <p:custDataLst>
              <p:tags r:id="rId9"/>
            </p:custDataLst>
          </p:nvPr>
        </p:nvSpPr>
        <p:spPr>
          <a:xfrm>
            <a:off x="6048375" y="4583310"/>
            <a:ext cx="5350668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AI 参与的合理边界</a:t>
            </a:r>
            <a:endParaRPr lang="en-US" sz="180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23" name="Google Shape;223;p21"/>
          <p:cNvSpPr/>
          <p:nvPr>
            <p:custDataLst>
              <p:tags r:id="rId10"/>
            </p:custDataLst>
          </p:nvPr>
        </p:nvSpPr>
        <p:spPr>
          <a:xfrm>
            <a:off x="5905500" y="4583310"/>
            <a:ext cx="38100" cy="30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1"/>
          <p:cNvSpPr txBox="1"/>
          <p:nvPr>
            <p:custDataLst>
              <p:tags r:id="rId11"/>
            </p:custDataLst>
          </p:nvPr>
        </p:nvSpPr>
        <p:spPr>
          <a:xfrm>
            <a:off x="5905500" y="4983360"/>
            <a:ext cx="52387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未来的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应该作为工具“帮助用户更好地表达”，还是直接“替用户表达”？</a:t>
            </a:r>
            <a:endParaRPr lang="en-US" sz="15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750" y="5600700"/>
            <a:ext cx="10096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179830" y="791845"/>
            <a:ext cx="10066020" cy="323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我们想说</a:t>
            </a:r>
            <a:endParaRPr lang="zh-CN" altLang="en-US" sz="4050" b="0" i="0" u="none" strike="noStrike" cap="none">
              <a:solidFill>
                <a:srgbClr val="0F172A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AI 可以帮助我们</a:t>
            </a:r>
            <a:r>
              <a:rPr lang="zh-CN" alt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匹配一句有趣的表达</a:t>
            </a:r>
            <a:b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sym typeface="Calibri" panose="020F0502020204030204"/>
              </a:rPr>
            </a:br>
            <a: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 但真正赋予这句话意义的</a:t>
            </a:r>
            <a:br>
              <a:rPr lang="en-US" sz="4050" b="0" i="0" u="none" strike="noStrike" cap="none">
                <a:solidFill>
                  <a:srgbClr val="0F172A"/>
                </a:solidFill>
                <a:latin typeface="思源宋体 CN Heavy" panose="02020900000000000000" charset="-122"/>
                <a:ea typeface="思源宋体 CN Heavy" panose="02020900000000000000" charset="-122"/>
                <a:sym typeface="Calibri" panose="020F0502020204030204"/>
              </a:rPr>
            </a:br>
            <a:r>
              <a:rPr lang="en-US" sz="4050" i="0" u="none" strike="noStrike" cap="none">
                <a:solidFill>
                  <a:srgbClr val="F472B6"/>
                </a:solidFill>
                <a:latin typeface="思源宋体 CN Heavy" panose="02020900000000000000" charset="-122"/>
                <a:ea typeface="思源宋体 CN Heavy" panose="02020900000000000000" charset="-122"/>
                <a:cs typeface="Arial" panose="020B0604020202020204"/>
                <a:sym typeface="Arial" panose="020B0604020202020204"/>
              </a:rPr>
              <a:t>永远是说出它的人</a:t>
            </a:r>
            <a:endParaRPr lang="en-US" sz="4050" i="0" u="none" strike="noStrike" cap="none">
              <a:solidFill>
                <a:srgbClr val="F472B6"/>
              </a:solidFill>
              <a:latin typeface="思源宋体 CN Heavy" panose="02020900000000000000" charset="-122"/>
              <a:ea typeface="思源宋体 CN Heavy" panose="020209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047750" y="5848350"/>
            <a:ext cx="369897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HUMAN-COMPUTER INTERACTION FUTURE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10103048" y="5848350"/>
            <a:ext cx="10412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sz="1050" b="0" i="0" u="none" strike="noStrike" cap="none">
              <a:solidFill>
                <a:srgbClr val="94A3B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3371701" y="4030860"/>
            <a:ext cx="5448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不是表达者，而是表达的辅助者</a:t>
            </a:r>
            <a:endParaRPr lang="en-US" sz="16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3371701" y="4449960"/>
            <a:ext cx="5448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不应替代人的创造力，而应放大人的创造力</a:t>
            </a:r>
            <a:endParaRPr lang="en-US" sz="16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371701" y="4869060"/>
            <a:ext cx="5448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真正有温度的表达，依然来源于真实的人与真实的生活经验</a:t>
            </a:r>
            <a:endParaRPr lang="en-US" sz="165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2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3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4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5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6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7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8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9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10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11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12.xml><?xml version="1.0" encoding="utf-8"?>
<p:tagLst xmlns:p="http://schemas.openxmlformats.org/presentationml/2006/main">
  <p:tag name="KSO_WM_DIAGRAM_VIRTUALLY_FRAME" val="{&quot;height&quot;:200.69535433070868,&quot;left&quot;:506.25,&quot;top&quot;:165.14055118110235,&quot;width&quot;:371.24992125984244}"/>
</p:tagLst>
</file>

<file path=ppt/tags/tag13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4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5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6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7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8.xml><?xml version="1.0" encoding="utf-8"?>
<p:tagLst xmlns:p="http://schemas.openxmlformats.org/presentationml/2006/main">
  <p:tag name="KSO_WM_DIAGRAM_VIRTUALLY_FRAME" val="{&quot;height&quot;:175.50944881889762,&quot;left&quot;:82.49999999999997,&quot;top&quot;:153.89055118110235,&quot;width&quot;:809.95}"/>
</p:tagLst>
</file>

<file path=ppt/tags/tag19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0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1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2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3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4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5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6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ags/tag27.xml><?xml version="1.0" encoding="utf-8"?>
<p:tagLst xmlns:p="http://schemas.openxmlformats.org/presentationml/2006/main">
  <p:tag name="KSO_WM_DIAGRAM_VIRTUALLY_FRAME" val="{&quot;height&quot;:293,&quot;left&quot;:465,&quot;top&quot;:153.89055118110235,&quot;width&quot;:432.5624409448819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2364</Words>
  <Application>WPS 演示</Application>
  <PresentationFormat/>
  <Paragraphs>226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思源宋体 CN Heavy</vt:lpstr>
      <vt:lpstr>仿宋</vt:lpstr>
      <vt:lpstr>Noto Sans SC</vt:lpstr>
      <vt:lpstr>思源黑体 CN Medium</vt:lpstr>
      <vt:lpstr>Wingdings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a.</cp:lastModifiedBy>
  <cp:revision>7</cp:revision>
  <dcterms:created xsi:type="dcterms:W3CDTF">2026-07-04T12:07:00Z</dcterms:created>
  <dcterms:modified xsi:type="dcterms:W3CDTF">2026-07-05T01:52:37Z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7AAE1B9A6CCC4A2B9179059634C41EF3_13</vt:lpwstr>
  </property>
  <property fmtid="{D5CDD505-2E9C-101B-9397-08002B2CF9AE}" pid="3" name="KSOProductBuildVer">
    <vt:lpwstr>2052-12.1.0.23542</vt:lpwstr>
  </property>
</Properties>
</file>